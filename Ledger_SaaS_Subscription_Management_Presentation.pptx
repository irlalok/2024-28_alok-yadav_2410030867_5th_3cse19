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3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Relationship Id="rId9" Type="http://schemas.openxmlformats.org/officeDocument/2006/relationships/image" Target="../media/image20.png"/><Relationship Id="rId10" Type="http://schemas.openxmlformats.org/officeDocument/2006/relationships/image" Target="../media/image12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8.png"/><Relationship Id="rId16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12.png"/><Relationship Id="rId8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31.png"/><Relationship Id="rId8" Type="http://schemas.openxmlformats.org/officeDocument/2006/relationships/image" Target="../media/image22.png"/><Relationship Id="rId9" Type="http://schemas.openxmlformats.org/officeDocument/2006/relationships/image" Target="../media/image21.png"/><Relationship Id="rId10" Type="http://schemas.openxmlformats.org/officeDocument/2006/relationships/image" Target="../media/image11.png"/><Relationship Id="rId11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8.png"/><Relationship Id="rId6" Type="http://schemas.openxmlformats.org/officeDocument/2006/relationships/image" Target="../media/image40.png"/><Relationship Id="rId7" Type="http://schemas.openxmlformats.org/officeDocument/2006/relationships/image" Target="../media/image9.png"/><Relationship Id="rId8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42.png"/><Relationship Id="rId8" Type="http://schemas.openxmlformats.org/officeDocument/2006/relationships/image" Target="../media/image10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0D244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work/icons/cloud_38BD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794614"/>
            <a:ext cx="559613" cy="5596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INTERNSHIP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99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SaaS Subscription Management Platform with Stripe &amp; Docker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41248" y="3703320"/>
            <a:ext cx="2377440" cy="0"/>
          </a:xfrm>
          <a:prstGeom prst="line">
            <a:avLst/>
          </a:prstGeom>
          <a:noFill/>
          <a:ln w="1587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3886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
</a:t>
            </a: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Internship  ·  06/05/2026 – 06/06/2026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51560" y="5029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Abhimanyu Yadav
</a:t>
            </a: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2024-28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01  · 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Internship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57400" cy="2514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57300" y="2441448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13232" y="32826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593592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Codec Technologies Pvt. Ltd.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07208" y="2148840"/>
            <a:ext cx="2057400" cy="2514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515868" y="2441448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2971800" y="32826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3593592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Cloud Computing Intern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751576" y="2171700"/>
            <a:ext cx="2057400" cy="2514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60236" y="2388408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5806440" y="323148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982005" y="363885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06/05/2026 – 06/06/2026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234172" y="2171700"/>
            <a:ext cx="2057400" cy="2514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8997509" y="2388408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8453441" y="321307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8453441" y="3523055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Cloud Computing Training &amp; Practical Project Work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31" name="Oval 30"/>
          <p:cNvSpPr/>
          <p:nvPr/>
        </p:nvSpPr>
        <p:spPr>
          <a:xfrm>
            <a:off x="804672" y="2395728"/>
            <a:ext cx="384048" cy="384048"/>
          </a:xfrm>
          <a:prstGeom prst="ellipse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2157984" y="2395728"/>
            <a:ext cx="384048" cy="384048"/>
          </a:xfrm>
          <a:prstGeom prst="ellipse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33" name="Oval 32"/>
          <p:cNvSpPr/>
          <p:nvPr/>
        </p:nvSpPr>
        <p:spPr>
          <a:xfrm>
            <a:off x="4590288" y="2395728"/>
            <a:ext cx="384048" cy="384048"/>
          </a:xfrm>
          <a:prstGeom prst="ellipse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1M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2395728"/>
            <a:ext cx="384048" cy="384048"/>
          </a:xfrm>
          <a:prstGeom prst="ellipse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13232" y="20574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57300" y="2560320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13232" y="342900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SaaS subscription and billing platform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971800" y="20574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15868" y="2560320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2971800" y="342900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 authentication and role-based authorization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65776" y="192024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5230368" y="20574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774436" y="2560320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5230368" y="342900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Stripe Checkout, Billing Portal and webhooks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24344" y="192024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7488936" y="20574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033004" y="2560320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7488936" y="342900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customer usage with analytics dashboards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582912" y="192024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9747504" y="20574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10291572" y="2560320"/>
            <a:ext cx="640080" cy="64008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8" name="Text 21"/>
          <p:cNvSpPr txBox="1"/>
          <p:nvPr/>
        </p:nvSpPr>
        <p:spPr>
          <a:xfrm>
            <a:off x="9747504" y="342900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frontend, backend and PostgreSQL with Docker Compose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SaaS Subscription Management Platform with Stripe &amp; Docker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128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t>A full-stack SaaS platform for plans, subscriptions, billing, invoices, usage analytics and role-based administration, backed by Stripe.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577840" cy="749808"/>
          </a:xfrm>
          <a:prstGeom prst="roundRect">
            <a:avLst>
              <a:gd name="adj" fmla="val 10976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13232" y="3191256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371600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PRESENTATION LAYER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410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Next.js 14 + TypeScript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941064"/>
            <a:ext cx="5577840" cy="749808"/>
          </a:xfrm>
          <a:prstGeom prst="roundRect">
            <a:avLst>
              <a:gd name="adj" fmla="val 10976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713232" y="4069080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1371600" y="4032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APPLICATION LAYER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42885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Node.js + Express.js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818888"/>
            <a:ext cx="5577840" cy="749808"/>
          </a:xfrm>
          <a:prstGeom prst="roundRect">
            <a:avLst>
              <a:gd name="adj" fmla="val 10976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13232" y="4946904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1371600" y="49103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DATA LAYER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5166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PostgreSQL 16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751576"/>
            <a:ext cx="5577840" cy="420624"/>
          </a:xfrm>
          <a:prstGeom prst="roundRect">
            <a:avLst>
              <a:gd name="adj" fmla="val 19565"/>
            </a:avLst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76656" y="5806440"/>
            <a:ext cx="310896" cy="310896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1097280" y="5751576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Dockerized — Frontend, backend and database orchestrated with Docker Compose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46520" y="1417320"/>
            <a:ext cx="5193792" cy="4846320"/>
          </a:xfrm>
          <a:prstGeom prst="roundRect">
            <a:avLst>
              <a:gd name="adj" fmla="val 1321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446520" y="1417320"/>
            <a:ext cx="5193792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6446520" y="1545336"/>
            <a:ext cx="5193792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6565392" y="149961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6720840" y="149961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6876288" y="149961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3" name="Text 26"/>
          <p:cNvSpPr txBox="1"/>
          <p:nvPr/>
        </p:nvSpPr>
        <p:spPr>
          <a:xfrm>
            <a:off x="6510528" y="5971032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— Live storefront homepage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6" name="Rounded Rectangle 35"/>
          <p:cNvSpPr/>
          <p:nvPr/>
        </p:nvSpPr>
        <p:spPr>
          <a:xfrm>
            <a:off x="6446520" y="1508760"/>
            <a:ext cx="4572000" cy="379476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LEDGER DASHBOARD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Plans &amp; subscriptions</a:t>
            </a:r>
            <a:br/>
            <a:r>
              <a:t>Billing &amp; invoices</a:t>
            </a:r>
            <a:br/>
            <a:r>
              <a:t>Usage analytics</a:t>
            </a:r>
            <a:br/>
            <a:r>
              <a:t>Admin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3112" cy="1965960"/>
          </a:xfrm>
          <a:prstGeom prst="roundRect">
            <a:avLst>
              <a:gd name="adj" fmla="val 418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837944"/>
            <a:ext cx="319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38581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85800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37919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1485138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437257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2284476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Recharts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36595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 txBox="1"/>
          <p:nvPr/>
        </p:nvSpPr>
        <p:spPr>
          <a:xfrm>
            <a:off x="3083814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312920" y="1691640"/>
            <a:ext cx="3563112" cy="1965960"/>
          </a:xfrm>
          <a:prstGeom prst="roundRect">
            <a:avLst>
              <a:gd name="adj" fmla="val 418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" name="Text 13"/>
          <p:cNvSpPr txBox="1"/>
          <p:nvPr/>
        </p:nvSpPr>
        <p:spPr>
          <a:xfrm>
            <a:off x="4495800" y="1837944"/>
            <a:ext cx="319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602861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2" name="Text 15"/>
          <p:cNvSpPr txBox="1"/>
          <p:nvPr/>
        </p:nvSpPr>
        <p:spPr>
          <a:xfrm>
            <a:off x="4450080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402199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5" name="Text 17"/>
          <p:cNvSpPr txBox="1"/>
          <p:nvPr/>
        </p:nvSpPr>
        <p:spPr>
          <a:xfrm>
            <a:off x="5249418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8077200" y="1691640"/>
            <a:ext cx="3563112" cy="1965960"/>
          </a:xfrm>
          <a:prstGeom prst="roundRect">
            <a:avLst>
              <a:gd name="adj" fmla="val 418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Text 19"/>
          <p:cNvSpPr txBox="1"/>
          <p:nvPr/>
        </p:nvSpPr>
        <p:spPr>
          <a:xfrm>
            <a:off x="8260080" y="1837944"/>
            <a:ext cx="319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8367141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0" name="Text 21"/>
          <p:cNvSpPr txBox="1"/>
          <p:nvPr/>
        </p:nvSpPr>
        <p:spPr>
          <a:xfrm>
            <a:off x="8214360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9166479" y="225856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3" name="Text 23"/>
          <p:cNvSpPr txBox="1"/>
          <p:nvPr/>
        </p:nvSpPr>
        <p:spPr>
          <a:xfrm>
            <a:off x="9013698" y="2898648"/>
            <a:ext cx="89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548640" y="3886200"/>
            <a:ext cx="5445252" cy="1965960"/>
          </a:xfrm>
          <a:prstGeom prst="roundRect">
            <a:avLst>
              <a:gd name="adj" fmla="val 418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Text 25"/>
          <p:cNvSpPr txBox="1"/>
          <p:nvPr/>
        </p:nvSpPr>
        <p:spPr>
          <a:xfrm>
            <a:off x="731520" y="4032504"/>
            <a:ext cx="5079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SECURITY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1073849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8" name="Text 27"/>
          <p:cNvSpPr txBox="1"/>
          <p:nvPr/>
        </p:nvSpPr>
        <p:spPr>
          <a:xfrm>
            <a:off x="685800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2343722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41" name="Text 29"/>
          <p:cNvSpPr txBox="1"/>
          <p:nvPr/>
        </p:nvSpPr>
        <p:spPr>
          <a:xfrm>
            <a:off x="1955673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42" name="Shape 30"/>
          <p:cNvSpPr/>
          <p:nvPr/>
        </p:nvSpPr>
        <p:spPr>
          <a:xfrm>
            <a:off x="3613595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44" name="Text 31"/>
          <p:cNvSpPr txBox="1"/>
          <p:nvPr/>
        </p:nvSpPr>
        <p:spPr>
          <a:xfrm>
            <a:off x="3225546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4883467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47" name="Text 33"/>
          <p:cNvSpPr txBox="1"/>
          <p:nvPr/>
        </p:nvSpPr>
        <p:spPr>
          <a:xfrm>
            <a:off x="4495419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950" dirty="0"/>
          </a:p>
        </p:txBody>
      </p:sp>
      <p:sp>
        <p:nvSpPr>
          <p:cNvPr id="48" name="Shape 34"/>
          <p:cNvSpPr/>
          <p:nvPr/>
        </p:nvSpPr>
        <p:spPr>
          <a:xfrm>
            <a:off x="6195060" y="3886200"/>
            <a:ext cx="5445252" cy="1965960"/>
          </a:xfrm>
          <a:prstGeom prst="roundRect">
            <a:avLst>
              <a:gd name="adj" fmla="val 418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9" name="Text 35"/>
          <p:cNvSpPr txBox="1"/>
          <p:nvPr/>
        </p:nvSpPr>
        <p:spPr>
          <a:xfrm>
            <a:off x="6377940" y="4032504"/>
            <a:ext cx="5079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TOOLS</a:t>
            </a:r>
            <a:endParaRPr lang="en-US" sz="1150" dirty="0"/>
          </a:p>
        </p:txBody>
      </p:sp>
      <p:sp>
        <p:nvSpPr>
          <p:cNvPr id="50" name="Shape 36"/>
          <p:cNvSpPr/>
          <p:nvPr/>
        </p:nvSpPr>
        <p:spPr>
          <a:xfrm>
            <a:off x="6720268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52" name="Text 37"/>
          <p:cNvSpPr txBox="1"/>
          <p:nvPr/>
        </p:nvSpPr>
        <p:spPr>
          <a:xfrm>
            <a:off x="6332220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/ dotenvHub</a:t>
            </a:r>
            <a:endParaRPr lang="en-US" sz="950" dirty="0"/>
          </a:p>
        </p:txBody>
      </p:sp>
      <p:sp>
        <p:nvSpPr>
          <p:cNvPr id="53" name="Shape 38"/>
          <p:cNvSpPr/>
          <p:nvPr/>
        </p:nvSpPr>
        <p:spPr>
          <a:xfrm>
            <a:off x="7990142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55" name="Text 39"/>
          <p:cNvSpPr txBox="1"/>
          <p:nvPr/>
        </p:nvSpPr>
        <p:spPr>
          <a:xfrm>
            <a:off x="7602093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/ Docker</a:t>
            </a:r>
            <a:endParaRPr lang="en-US" sz="950" dirty="0"/>
          </a:p>
        </p:txBody>
      </p:sp>
      <p:sp>
        <p:nvSpPr>
          <p:cNvPr id="56" name="Shape 40"/>
          <p:cNvSpPr/>
          <p:nvPr/>
        </p:nvSpPr>
        <p:spPr>
          <a:xfrm>
            <a:off x="9260014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58" name="Text 41"/>
          <p:cNvSpPr txBox="1"/>
          <p:nvPr/>
        </p:nvSpPr>
        <p:spPr>
          <a:xfrm>
            <a:off x="8871966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59" name="Shape 42"/>
          <p:cNvSpPr/>
          <p:nvPr/>
        </p:nvSpPr>
        <p:spPr>
          <a:xfrm>
            <a:off x="10529888" y="445312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61" name="Text 43"/>
          <p:cNvSpPr txBox="1"/>
          <p:nvPr/>
        </p:nvSpPr>
        <p:spPr>
          <a:xfrm>
            <a:off x="10141839" y="5093208"/>
            <a:ext cx="13613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950" dirty="0"/>
          </a:p>
        </p:txBody>
      </p:sp>
      <p:sp>
        <p:nvSpPr>
          <p:cNvPr id="62" name="Text 44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63" name="Text 45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13816" y="1591056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399032" y="15910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Customer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399032" y="1892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Web browser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16836" y="2194560"/>
            <a:ext cx="201168" cy="237744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85800" y="2459736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13816" y="2542032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1399032" y="25420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Next.js 14 Frontend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399032" y="2843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Presentation layer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116836" y="3145536"/>
            <a:ext cx="201168" cy="237744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85800" y="3410712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13816" y="3493008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1399032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Node.js / Express API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399032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Application layer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116836" y="4096512"/>
            <a:ext cx="201168" cy="237744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685800" y="4361688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813816" y="4443984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1399032" y="44439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PostgreSQL Database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399032" y="4745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Data layer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822192" y="2670048"/>
            <a:ext cx="777240" cy="237744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4892040" y="2459736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5020056" y="2542032"/>
            <a:ext cx="493776" cy="49377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" name="Text 24"/>
          <p:cNvSpPr txBox="1"/>
          <p:nvPr/>
        </p:nvSpPr>
        <p:spPr>
          <a:xfrm>
            <a:off x="5605272" y="25420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Docker Frontend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5605272" y="2843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Next.js on :3000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3822192" y="3621024"/>
            <a:ext cx="777240" cy="237744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4892040" y="3410712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020056" y="3493008"/>
            <a:ext cx="493776" cy="49377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7" name="Text 29"/>
          <p:cNvSpPr txBox="1"/>
          <p:nvPr/>
        </p:nvSpPr>
        <p:spPr>
          <a:xfrm>
            <a:off x="5605272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Docker Backend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5605272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Express API on :4000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3822192" y="4572000"/>
            <a:ext cx="777240" cy="237744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40" name="Shape 32"/>
          <p:cNvSpPr/>
          <p:nvPr/>
        </p:nvSpPr>
        <p:spPr>
          <a:xfrm>
            <a:off x="4892040" y="4361688"/>
            <a:ext cx="306324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1" name="Shape 33"/>
          <p:cNvSpPr/>
          <p:nvPr/>
        </p:nvSpPr>
        <p:spPr>
          <a:xfrm>
            <a:off x="5020056" y="4443984"/>
            <a:ext cx="493776" cy="49377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3" name="Text 34"/>
          <p:cNvSpPr txBox="1"/>
          <p:nvPr/>
        </p:nvSpPr>
        <p:spPr>
          <a:xfrm>
            <a:off x="5605272" y="44439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Docker PostgreSQL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5605272" y="4745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Persistent pgdata volume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4892040" y="5312664"/>
            <a:ext cx="896112" cy="502920"/>
          </a:xfrm>
          <a:prstGeom prst="roundRect">
            <a:avLst>
              <a:gd name="adj" fmla="val 54545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6" name="Text 37"/>
          <p:cNvSpPr txBox="1"/>
          <p:nvPr/>
        </p:nvSpPr>
        <p:spPr>
          <a:xfrm>
            <a:off x="4892040" y="53126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Git / GitHub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5806440" y="5481828"/>
            <a:ext cx="274320" cy="16459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48" name="Shape 39"/>
          <p:cNvSpPr/>
          <p:nvPr/>
        </p:nvSpPr>
        <p:spPr>
          <a:xfrm>
            <a:off x="6099048" y="5312664"/>
            <a:ext cx="896112" cy="502920"/>
          </a:xfrm>
          <a:prstGeom prst="roundRect">
            <a:avLst>
              <a:gd name="adj" fmla="val 54545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9" name="Text 40"/>
          <p:cNvSpPr txBox="1"/>
          <p:nvPr/>
        </p:nvSpPr>
        <p:spPr>
          <a:xfrm>
            <a:off x="6099048" y="53126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Docker Compose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013448" y="5481828"/>
            <a:ext cx="274320" cy="16459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51" name="Shape 42"/>
          <p:cNvSpPr/>
          <p:nvPr/>
        </p:nvSpPr>
        <p:spPr>
          <a:xfrm>
            <a:off x="7306056" y="5312664"/>
            <a:ext cx="896112" cy="502920"/>
          </a:xfrm>
          <a:prstGeom prst="roundRect">
            <a:avLst>
              <a:gd name="adj" fmla="val 54545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2" name="Text 43"/>
          <p:cNvSpPr txBox="1"/>
          <p:nvPr/>
        </p:nvSpPr>
        <p:spPr>
          <a:xfrm>
            <a:off x="7306056" y="53126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Stripe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5239512" y="5843016"/>
            <a:ext cx="164592" cy="164592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54" name="Text 45"/>
          <p:cNvSpPr txBox="1"/>
          <p:nvPr/>
        </p:nvSpPr>
        <p:spPr>
          <a:xfrm>
            <a:off x="4892040" y="6035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Checkout • Billing Portal • Webhooks • Subscription Sync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56" name="Text 47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57" name="Rounded Rectangle 56"/>
          <p:cNvSpPr/>
          <p:nvPr/>
        </p:nvSpPr>
        <p:spPr>
          <a:xfrm>
            <a:off x="822960" y="1417320"/>
            <a:ext cx="2743200" cy="713232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Customer</a:t>
            </a:r>
          </a:p>
          <a:p>
            <a:pPr>
              <a:defRPr sz="1100"/>
            </a:pPr>
            <a:r>
              <a:t>Browser client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2331720"/>
            <a:ext cx="2743200" cy="713232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Next.js Frontend</a:t>
            </a:r>
          </a:p>
          <a:p>
            <a:pPr>
              <a:defRPr sz="1100"/>
            </a:pPr>
            <a:r>
              <a:t>Dashboard • Plans • Billing • Admin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3246120"/>
            <a:ext cx="2743200" cy="713232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Express Backend</a:t>
            </a:r>
          </a:p>
          <a:p>
            <a:pPr>
              <a:defRPr sz="1100"/>
            </a:pPr>
            <a:r>
              <a:t>JWT • Roles • REST API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4160520"/>
            <a:ext cx="2743200" cy="713232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PostgreSQL</a:t>
            </a:r>
          </a:p>
          <a:p>
            <a:pPr>
              <a:defRPr sz="1100"/>
            </a:pPr>
            <a:r>
              <a:t>Users • Plans • Subscriptions • Invoices • Usage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0" y="2011680"/>
            <a:ext cx="3657600" cy="914400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Stripe</a:t>
            </a:r>
          </a:p>
          <a:p>
            <a:pPr>
              <a:defRPr sz="1100"/>
            </a:pPr>
            <a:r>
              <a:t>Checkout • Billing Portal • Webhooks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0" y="3246120"/>
            <a:ext cx="3657600" cy="914400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Docker Compose</a:t>
            </a:r>
          </a:p>
          <a:p>
            <a:pPr>
              <a:defRPr sz="1100"/>
            </a:pPr>
            <a:r>
              <a:t>Frontend + Backend + PostgreSQL</a:t>
            </a:r>
          </a:p>
        </p:txBody>
      </p:sp>
      <p:sp>
        <p:nvSpPr>
          <p:cNvPr id="63" name="Down Arrow 62"/>
          <p:cNvSpPr/>
          <p:nvPr/>
        </p:nvSpPr>
        <p:spPr>
          <a:xfrm>
            <a:off x="1874519" y="2130552"/>
            <a:ext cx="411480" cy="201168"/>
          </a:xfrm>
          <a:prstGeom prst="downArrow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own Arrow 63"/>
          <p:cNvSpPr/>
          <p:nvPr/>
        </p:nvSpPr>
        <p:spPr>
          <a:xfrm>
            <a:off x="1874519" y="3044952"/>
            <a:ext cx="411480" cy="201168"/>
          </a:xfrm>
          <a:prstGeom prst="downArrow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own Arrow 64"/>
          <p:cNvSpPr/>
          <p:nvPr/>
        </p:nvSpPr>
        <p:spPr>
          <a:xfrm>
            <a:off x="1874519" y="3959352"/>
            <a:ext cx="411480" cy="201168"/>
          </a:xfrm>
          <a:prstGeom prst="downArrow">
            <a:avLst/>
          </a:prstGeom>
          <a:solidFill>
            <a:srgbClr val="255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INFRASTRUCTURE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Application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99816" cy="1417320"/>
          </a:xfrm>
          <a:prstGeom prst="roundRect">
            <a:avLst>
              <a:gd name="adj" fmla="val 580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2125980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408176" y="1911096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Docker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08176" y="225856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Backend container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9624" y="1691640"/>
            <a:ext cx="3099816" cy="1417320"/>
          </a:xfrm>
          <a:prstGeom prst="roundRect">
            <a:avLst>
              <a:gd name="adj" fmla="val 580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032504" y="2125980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4709160" y="1911096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Next.js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25856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Frontend container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310128"/>
            <a:ext cx="3099816" cy="1417320"/>
          </a:xfrm>
          <a:prstGeom prst="roundRect">
            <a:avLst>
              <a:gd name="adj" fmla="val 580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1520" y="374446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408176" y="352958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PostgreSQL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08176" y="3877056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Persistent database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49624" y="3310128"/>
            <a:ext cx="3099816" cy="1417320"/>
          </a:xfrm>
          <a:prstGeom prst="roundRect">
            <a:avLst>
              <a:gd name="adj" fmla="val 5806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032504" y="374446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4709160" y="352958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JWT + Roles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709160" y="3877056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Application authorization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64608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0F2A4A"/>
          </a:solidFill>
          <a:ln w="12700">
            <a:solidFill>
              <a:srgbClr val="1E6A9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685800" y="4946904"/>
            <a:ext cx="402336" cy="40233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1234440" y="486460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Development: Docker Compose • PostgreSQL 16 • Node.js • Next.js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269480" y="1691640"/>
            <a:ext cx="4370832" cy="4434840"/>
          </a:xfrm>
          <a:prstGeom prst="roundRect">
            <a:avLst>
              <a:gd name="adj" fmla="val 1464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7269480" y="1691640"/>
            <a:ext cx="4370832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7269480" y="1819656"/>
            <a:ext cx="4370832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7388352" y="1773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7543800" y="1773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7699248" y="1773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5" name="Text 27"/>
          <p:cNvSpPr txBox="1"/>
          <p:nvPr/>
        </p:nvSpPr>
        <p:spPr>
          <a:xfrm>
            <a:off x="7333488" y="583387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External services: Stripe API + Stripe Webhooks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37" name="Text 29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8" name="Rounded Rectangle 37"/>
          <p:cNvSpPr/>
          <p:nvPr/>
        </p:nvSpPr>
        <p:spPr>
          <a:xfrm>
            <a:off x="6903720" y="1828800"/>
            <a:ext cx="3931920" cy="320040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RUNTIME SERVICES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frontend :3000</a:t>
            </a:r>
            <a:br/>
            <a:r>
              <a:t>backend :4000</a:t>
            </a:r>
            <a:br/>
            <a:r>
              <a:t>postgres :5432</a:t>
            </a:r>
            <a:br/>
            <a:r>
              <a:t>persistent pgdata volume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6536" cy="4526280"/>
          </a:xfrm>
          <a:prstGeom prst="roundRect">
            <a:avLst>
              <a:gd name="adj" fmla="val 2334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847088"/>
            <a:ext cx="512064" cy="512064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371600" y="1920240"/>
            <a:ext cx="2520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14600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S3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3232" y="3977640"/>
            <a:ext cx="3197352" cy="2011680"/>
          </a:xfrm>
          <a:prstGeom prst="roundRect">
            <a:avLst>
              <a:gd name="adj" fmla="val 3182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13232" y="3977640"/>
            <a:ext cx="3197352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13232" y="4105656"/>
            <a:ext cx="3197352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32104" y="4059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87552" y="4059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143000" y="4059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777240" y="5696712"/>
            <a:ext cx="306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product catalog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331208" y="1645920"/>
            <a:ext cx="3526536" cy="4526280"/>
          </a:xfrm>
          <a:prstGeom prst="roundRect">
            <a:avLst>
              <a:gd name="adj" fmla="val 2334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4532376" y="1847088"/>
            <a:ext cx="512064" cy="512064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5154168" y="1920240"/>
            <a:ext cx="2520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4532376" y="2514600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communication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EC2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with PM2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495800" y="3977640"/>
            <a:ext cx="3197352" cy="2011680"/>
          </a:xfrm>
          <a:prstGeom prst="roundRect">
            <a:avLst>
              <a:gd name="adj" fmla="val 3182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4495800" y="3977640"/>
            <a:ext cx="3197352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4495800" y="4105656"/>
            <a:ext cx="3197352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4614672" y="4059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4770120" y="4059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4925568" y="4059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559808" y="5696712"/>
            <a:ext cx="306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Express API service — port 4000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8113776" y="1645920"/>
            <a:ext cx="3526536" cy="4526280"/>
          </a:xfrm>
          <a:prstGeom prst="roundRect">
            <a:avLst>
              <a:gd name="adj" fmla="val 2334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8314944" y="1847088"/>
            <a:ext cx="512064" cy="512064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 txBox="1"/>
          <p:nvPr/>
        </p:nvSpPr>
        <p:spPr>
          <a:xfrm>
            <a:off x="8936736" y="1920240"/>
            <a:ext cx="2520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8314944" y="2514600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Amazon RDS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 connectivity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 region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278368" y="3977640"/>
            <a:ext cx="3197352" cy="2011680"/>
          </a:xfrm>
          <a:prstGeom prst="roundRect">
            <a:avLst>
              <a:gd name="adj" fmla="val 3182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8278368" y="3977640"/>
            <a:ext cx="3197352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8278368" y="4105656"/>
            <a:ext cx="3197352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38" name="Shape 31"/>
          <p:cNvSpPr/>
          <p:nvPr/>
        </p:nvSpPr>
        <p:spPr>
          <a:xfrm>
            <a:off x="8397240" y="4059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8552688" y="4059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8708136" y="4059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42" name="Text 34"/>
          <p:cNvSpPr txBox="1"/>
          <p:nvPr/>
        </p:nvSpPr>
        <p:spPr>
          <a:xfrm>
            <a:off x="8342376" y="5696712"/>
            <a:ext cx="306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PostgreSQL service — port 5432</a:t>
            </a:r>
            <a:endParaRPr lang="en-US" sz="950" dirty="0"/>
          </a:p>
        </p:txBody>
      </p:sp>
      <p:sp>
        <p:nvSpPr>
          <p:cNvPr id="43" name="Text 35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44" name="Text 36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5" name="Rounded Rectangle 44"/>
          <p:cNvSpPr/>
          <p:nvPr/>
        </p:nvSpPr>
        <p:spPr>
          <a:xfrm>
            <a:off x="685800" y="3977639"/>
            <a:ext cx="283464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FRONTEND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Dashboard • Plans • Billing • Admin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3977639"/>
            <a:ext cx="283464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BACKEND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Auth • Subscription • Billing • Usage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3977639"/>
            <a:ext cx="283464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DATABASE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PostgreSQL schema + persistent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08  ·  BILLING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Subscription &amp; Billing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70432" y="1764792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Customer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40280" y="2029968"/>
            <a:ext cx="457200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743200" y="164592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273552" y="1764792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27432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Ledger Frontend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43400" y="2029968"/>
            <a:ext cx="457200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846320" y="164592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0F2A4A"/>
          </a:solidFill>
          <a:ln w="12700">
            <a:solidFill>
              <a:srgbClr val="1E6A9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468112" y="1764792"/>
            <a:ext cx="493776" cy="49377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48463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Express API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92040" y="2743200"/>
            <a:ext cx="201168" cy="320040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355080" y="2743200"/>
            <a:ext cx="201168" cy="320040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3566160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SUBSCRIPTION PATH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566160" y="3502152"/>
            <a:ext cx="2377440" cy="621792"/>
          </a:xfrm>
          <a:prstGeom prst="roundRect">
            <a:avLst>
              <a:gd name="adj" fmla="val 13235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3685032" y="3593592"/>
            <a:ext cx="438912" cy="438912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4206240" y="350215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Select a plan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617720" y="4142232"/>
            <a:ext cx="182880" cy="118872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3566160" y="4279392"/>
            <a:ext cx="2377440" cy="621792"/>
          </a:xfrm>
          <a:prstGeom prst="roundRect">
            <a:avLst>
              <a:gd name="adj" fmla="val 13235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3685032" y="4370832"/>
            <a:ext cx="438912" cy="438912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9" name="Text 22"/>
          <p:cNvSpPr txBox="1"/>
          <p:nvPr/>
        </p:nvSpPr>
        <p:spPr>
          <a:xfrm>
            <a:off x="4206240" y="427939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Create Stripe Checkout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617720" y="4919472"/>
            <a:ext cx="182880" cy="118872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3566160" y="5056632"/>
            <a:ext cx="2377440" cy="621792"/>
          </a:xfrm>
          <a:prstGeom prst="roundRect">
            <a:avLst>
              <a:gd name="adj" fmla="val 13235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3685032" y="5148072"/>
            <a:ext cx="438912" cy="438912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4" name="Text 26"/>
          <p:cNvSpPr txBox="1"/>
          <p:nvPr/>
        </p:nvSpPr>
        <p:spPr>
          <a:xfrm>
            <a:off x="4206240" y="505663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Complete payment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6400800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SYNC PATH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400800" y="3895344"/>
            <a:ext cx="2377440" cy="621792"/>
          </a:xfrm>
          <a:prstGeom prst="roundRect">
            <a:avLst>
              <a:gd name="adj" fmla="val 13235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7" name="Shape 29"/>
          <p:cNvSpPr/>
          <p:nvPr/>
        </p:nvSpPr>
        <p:spPr>
          <a:xfrm>
            <a:off x="6519672" y="3986784"/>
            <a:ext cx="438912" cy="438912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9" name="Text 30"/>
          <p:cNvSpPr txBox="1"/>
          <p:nvPr/>
        </p:nvSpPr>
        <p:spPr>
          <a:xfrm>
            <a:off x="7040880" y="389534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Stripe Webhook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7452360" y="4535424"/>
            <a:ext cx="182880" cy="118872"/>
          </a:xfrm>
          <a:prstGeom prst="down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41" name="Shape 32"/>
          <p:cNvSpPr/>
          <p:nvPr/>
        </p:nvSpPr>
        <p:spPr>
          <a:xfrm>
            <a:off x="6400800" y="4672584"/>
            <a:ext cx="2377440" cy="621792"/>
          </a:xfrm>
          <a:prstGeom prst="roundRect">
            <a:avLst>
              <a:gd name="adj" fmla="val 13235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2" name="Shape 33"/>
          <p:cNvSpPr/>
          <p:nvPr/>
        </p:nvSpPr>
        <p:spPr>
          <a:xfrm>
            <a:off x="6519672" y="4764024"/>
            <a:ext cx="438912" cy="438912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44" name="Text 34"/>
          <p:cNvSpPr txBox="1"/>
          <p:nvPr/>
        </p:nvSpPr>
        <p:spPr>
          <a:xfrm>
            <a:off x="7040880" y="467258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Update local DB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548640" y="2880360"/>
            <a:ext cx="2606040" cy="3310128"/>
          </a:xfrm>
          <a:prstGeom prst="roundRect">
            <a:avLst>
              <a:gd name="adj" fmla="val 2456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6" name="Shape 36"/>
          <p:cNvSpPr/>
          <p:nvPr/>
        </p:nvSpPr>
        <p:spPr>
          <a:xfrm>
            <a:off x="548640" y="2880360"/>
            <a:ext cx="2606040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7" name="Shape 37"/>
          <p:cNvSpPr/>
          <p:nvPr/>
        </p:nvSpPr>
        <p:spPr>
          <a:xfrm>
            <a:off x="548640" y="3008376"/>
            <a:ext cx="2606040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48" name="Shape 38"/>
          <p:cNvSpPr/>
          <p:nvPr/>
        </p:nvSpPr>
        <p:spPr>
          <a:xfrm>
            <a:off x="667512" y="296265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49" name="Shape 39"/>
          <p:cNvSpPr/>
          <p:nvPr/>
        </p:nvSpPr>
        <p:spPr>
          <a:xfrm>
            <a:off x="822960" y="296265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50" name="Shape 40"/>
          <p:cNvSpPr/>
          <p:nvPr/>
        </p:nvSpPr>
        <p:spPr>
          <a:xfrm>
            <a:off x="978408" y="296265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52" name="Text 41"/>
          <p:cNvSpPr txBox="1"/>
          <p:nvPr/>
        </p:nvSpPr>
        <p:spPr>
          <a:xfrm>
            <a:off x="612648" y="58978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Stripe events keep subscriptions and invoices synchronized</a:t>
            </a:r>
            <a:endParaRPr lang="en-US" sz="950" dirty="0"/>
          </a:p>
        </p:txBody>
      </p:sp>
      <p:sp>
        <p:nvSpPr>
          <p:cNvPr id="53" name="Text 42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54" name="Text 43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55" name="Rounded Rectangle 54"/>
          <p:cNvSpPr/>
          <p:nvPr/>
        </p:nvSpPr>
        <p:spPr>
          <a:xfrm>
            <a:off x="731520" y="1737360"/>
            <a:ext cx="2103120" cy="685800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Customer</a:t>
            </a:r>
          </a:p>
          <a:p>
            <a:pPr>
              <a:defRPr sz="1100"/>
            </a:pPr>
            <a:r>
              <a:t>Select plan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71800" y="1737360"/>
            <a:ext cx="2286000" cy="685800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Stripe Checkout</a:t>
            </a:r>
          </a:p>
          <a:p>
            <a:pPr>
              <a:defRPr sz="1100"/>
            </a:pPr>
            <a:r>
              <a:t>Payment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0" y="1737360"/>
            <a:ext cx="2286000" cy="685800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Stripe Webhook</a:t>
            </a:r>
          </a:p>
          <a:p>
            <a:pPr>
              <a:defRPr sz="1100"/>
            </a:pPr>
            <a:r>
              <a:t>Event delivery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01000" y="1737360"/>
            <a:ext cx="2286000" cy="685800"/>
          </a:xfrm>
          <a:prstGeom prst="roundRect">
            <a:avLst/>
          </a:prstGeom>
          <a:solidFill>
            <a:srgbClr val="F8F9FC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PostgreSQL</a:t>
            </a:r>
          </a:p>
          <a:p>
            <a:pPr>
              <a:defRPr sz="1100"/>
            </a:pPr>
            <a:r>
              <a:t>Subscription + invoice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2971800"/>
            <a:ext cx="9144000" cy="196596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BILLING CAPABILITIES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• Upgrade / downgrade with proration</a:t>
            </a:r>
            <a:br/>
            <a:r>
              <a:t>• Cancel subscription</a:t>
            </a:r>
            <a:br/>
            <a:r>
              <a:t>• Hosted Billing Portal</a:t>
            </a:r>
            <a:br/>
            <a:r>
              <a:t>• Invoice synchronization</a:t>
            </a:r>
            <a:br/>
            <a:r>
              <a:t>• Usage records and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Application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60448" cy="1600200"/>
          </a:xfrm>
          <a:prstGeom prst="roundRect">
            <a:avLst>
              <a:gd name="adj" fmla="val 514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6256" y="189280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58368" y="2606040"/>
            <a:ext cx="184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852928"/>
            <a:ext cx="184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Next.js Docker service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10256" y="1691640"/>
            <a:ext cx="2060448" cy="1600200"/>
          </a:xfrm>
          <a:prstGeom prst="roundRect">
            <a:avLst>
              <a:gd name="adj" fmla="val 514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547872" y="189280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2919984" y="2606040"/>
            <a:ext cx="184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919984" y="2852928"/>
            <a:ext cx="184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Express Docker service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71872" y="1691640"/>
            <a:ext cx="2060448" cy="1600200"/>
          </a:xfrm>
          <a:prstGeom prst="roundRect">
            <a:avLst>
              <a:gd name="adj" fmla="val 514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809488" y="1892808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5181600" y="2606040"/>
            <a:ext cx="184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181600" y="2852928"/>
            <a:ext cx="184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PostgreSQL 16 container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493008"/>
            <a:ext cx="2060448" cy="1600200"/>
          </a:xfrm>
          <a:prstGeom prst="roundRect">
            <a:avLst>
              <a:gd name="adj" fmla="val 514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286256" y="3694176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658368" y="4407408"/>
            <a:ext cx="184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AUTHENTICATION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658368" y="4654296"/>
            <a:ext cx="184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JWT + bcrypt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810256" y="3493008"/>
            <a:ext cx="2060448" cy="1600200"/>
          </a:xfrm>
          <a:prstGeom prst="roundRect">
            <a:avLst>
              <a:gd name="adj" fmla="val 514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547872" y="3694176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2919984" y="4407408"/>
            <a:ext cx="184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API COMMUNICATION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2919984" y="4654296"/>
            <a:ext cx="184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CORS + typed API client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071872" y="3493008"/>
            <a:ext cx="2060448" cy="1600200"/>
          </a:xfrm>
          <a:prstGeom prst="roundRect">
            <a:avLst>
              <a:gd name="adj" fmla="val 514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5809488" y="3694176"/>
            <a:ext cx="585216" cy="585216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5181600" y="4407408"/>
            <a:ext cx="184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SOURCE CONTROL</a:t>
            </a:r>
            <a:endParaRPr 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5181600" y="4654296"/>
            <a:ext cx="184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Git / GitHub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406640" y="1691640"/>
            <a:ext cx="4233672" cy="4251960"/>
          </a:xfrm>
          <a:prstGeom prst="roundRect">
            <a:avLst>
              <a:gd name="adj" fmla="val 1512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Shape 27"/>
          <p:cNvSpPr/>
          <p:nvPr/>
        </p:nvSpPr>
        <p:spPr>
          <a:xfrm>
            <a:off x="7406640" y="1691640"/>
            <a:ext cx="4233672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7406640" y="1819656"/>
            <a:ext cx="4233672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37" name="Shape 29"/>
          <p:cNvSpPr/>
          <p:nvPr/>
        </p:nvSpPr>
        <p:spPr>
          <a:xfrm>
            <a:off x="7525512" y="1773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38" name="Shape 30"/>
          <p:cNvSpPr/>
          <p:nvPr/>
        </p:nvSpPr>
        <p:spPr>
          <a:xfrm>
            <a:off x="7680960" y="1773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39" name="Shape 31"/>
          <p:cNvSpPr/>
          <p:nvPr/>
        </p:nvSpPr>
        <p:spPr>
          <a:xfrm>
            <a:off x="7836408" y="1773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41" name="Text 32"/>
          <p:cNvSpPr txBox="1"/>
          <p:nvPr/>
        </p:nvSpPr>
        <p:spPr>
          <a:xfrm>
            <a:off x="7470648" y="5650992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Docker Compose — frontend + backend + PostgreSQL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43" name="Text 34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4" name="Rounded Rectangle 43"/>
          <p:cNvSpPr/>
          <p:nvPr/>
        </p:nvSpPr>
        <p:spPr>
          <a:xfrm>
            <a:off x="7040880" y="1828800"/>
            <a:ext cx="3657600" cy="338328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ENVIRONMENT CONFIGURATION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DATABASE_URL</a:t>
            </a:r>
            <a:br/>
            <a:r>
              <a:t>JWT_SECRET</a:t>
            </a:r>
            <a:br/>
            <a:r>
              <a:t>STRIPE_SECRET_KEY</a:t>
            </a:r>
            <a:br/>
            <a:r>
              <a:t>STRIPE_WEBHOOK_SECRET</a:t>
            </a:r>
            <a:br/>
            <a:r>
              <a:t>CLIENT_URL</a:t>
            </a:r>
            <a:br/>
            <a:r>
              <a:t>NEXT_PUBLIC_API_URL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PROBLEM SOLVING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537960" y="1353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847088"/>
            <a:ext cx="438912" cy="438912"/>
          </a:xfrm>
          <a:prstGeom prst="ellipse">
            <a:avLst/>
          </a:prstGeom>
          <a:solidFill>
            <a:srgbClr val="241826"/>
          </a:solidFill>
          <a:ln w="12700">
            <a:solidFill>
              <a:srgbClr val="7F2A2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280160" y="1645920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are separate services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87568" y="1938528"/>
            <a:ext cx="566928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00800" y="1645920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0F2A2A"/>
          </a:solidFill>
          <a:ln w="12700">
            <a:solidFill>
              <a:srgbClr val="1E5A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565392" y="1847088"/>
            <a:ext cx="438912" cy="438912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132320" y="164592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CLIENT_URL and CORS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2615184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13232" y="2816352"/>
            <a:ext cx="438912" cy="438912"/>
          </a:xfrm>
          <a:prstGeom prst="ellipse">
            <a:avLst/>
          </a:prstGeom>
          <a:solidFill>
            <a:srgbClr val="241826"/>
          </a:solidFill>
          <a:ln w="12700">
            <a:solidFill>
              <a:srgbClr val="7F2A2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1280160" y="2615184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 routes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87568" y="2907792"/>
            <a:ext cx="566928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00800" y="2615184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0F2A2A"/>
          </a:solidFill>
          <a:ln w="12700">
            <a:solidFill>
              <a:srgbClr val="1E5A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565392" y="2816352"/>
            <a:ext cx="438912" cy="438912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7132320" y="2615184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JWT authentication and role guards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584448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713232" y="3785616"/>
            <a:ext cx="438912" cy="438912"/>
          </a:xfrm>
          <a:prstGeom prst="ellipse">
            <a:avLst/>
          </a:prstGeom>
          <a:solidFill>
            <a:srgbClr val="241826"/>
          </a:solidFill>
          <a:ln w="12700">
            <a:solidFill>
              <a:srgbClr val="7F2A2A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1280160" y="3584448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 verification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687568" y="3877056"/>
            <a:ext cx="566928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6400800" y="3584448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0F2A2A"/>
          </a:solidFill>
          <a:ln w="12700">
            <a:solidFill>
              <a:srgbClr val="1E5A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565392" y="3785616"/>
            <a:ext cx="438912" cy="438912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7132320" y="3584448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raw request body for Stripe signature verification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48640" y="4553712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Shape 26"/>
          <p:cNvSpPr/>
          <p:nvPr/>
        </p:nvSpPr>
        <p:spPr>
          <a:xfrm>
            <a:off x="713232" y="4754880"/>
            <a:ext cx="438912" cy="438912"/>
          </a:xfrm>
          <a:prstGeom prst="ellipse">
            <a:avLst/>
          </a:prstGeom>
          <a:solidFill>
            <a:srgbClr val="241826"/>
          </a:solidFill>
          <a:ln w="12700">
            <a:solidFill>
              <a:srgbClr val="7F2A2A"/>
            </a:solidFill>
            <a:prstDash val="solid"/>
          </a:ln>
        </p:spPr>
        <p:txBody>
          <a:bodyPr/>
          <a:p/>
        </p:txBody>
      </p:sp>
      <p:sp>
        <p:nvSpPr>
          <p:cNvPr id="36" name="Text 27"/>
          <p:cNvSpPr txBox="1"/>
          <p:nvPr/>
        </p:nvSpPr>
        <p:spPr>
          <a:xfrm>
            <a:off x="1280160" y="4553712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synchronization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5687568" y="4846320"/>
            <a:ext cx="566928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38" name="Shape 29"/>
          <p:cNvSpPr/>
          <p:nvPr/>
        </p:nvSpPr>
        <p:spPr>
          <a:xfrm>
            <a:off x="6400800" y="4553712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0F2A2A"/>
          </a:solidFill>
          <a:ln w="12700">
            <a:solidFill>
              <a:srgbClr val="1E5A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6565392" y="4754880"/>
            <a:ext cx="438912" cy="438912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41" name="Text 31"/>
          <p:cNvSpPr txBox="1"/>
          <p:nvPr/>
        </p:nvSpPr>
        <p:spPr>
          <a:xfrm>
            <a:off x="7132320" y="4553712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handlers update local subscription/invoice data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548640" y="5522976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3" name="Shape 33"/>
          <p:cNvSpPr/>
          <p:nvPr/>
        </p:nvSpPr>
        <p:spPr>
          <a:xfrm>
            <a:off x="713232" y="5724144"/>
            <a:ext cx="438912" cy="438912"/>
          </a:xfrm>
          <a:prstGeom prst="ellipse">
            <a:avLst/>
          </a:prstGeom>
          <a:solidFill>
            <a:srgbClr val="241826"/>
          </a:solidFill>
          <a:ln w="12700">
            <a:solidFill>
              <a:srgbClr val="7F2A2A"/>
            </a:solidFill>
            <a:prstDash val="solid"/>
          </a:ln>
        </p:spPr>
        <p:txBody>
          <a:bodyPr/>
          <a:p/>
        </p:txBody>
      </p:sp>
      <p:sp>
        <p:nvSpPr>
          <p:cNvPr id="45" name="Text 34"/>
          <p:cNvSpPr txBox="1"/>
          <p:nvPr/>
        </p:nvSpPr>
        <p:spPr>
          <a:xfrm>
            <a:off x="1280160" y="5522976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local environment</a:t>
            </a:r>
            <a:endParaRPr lang="en-US" sz="1150" dirty="0"/>
          </a:p>
        </p:txBody>
      </p:sp>
      <p:sp>
        <p:nvSpPr>
          <p:cNvPr id="46" name="Shape 35"/>
          <p:cNvSpPr/>
          <p:nvPr/>
        </p:nvSpPr>
        <p:spPr>
          <a:xfrm>
            <a:off x="5687568" y="5815584"/>
            <a:ext cx="566928" cy="256032"/>
          </a:xfrm>
          <a:prstGeom prst="rightArrow">
            <a:avLst/>
          </a:prstGeom>
          <a:solidFill>
            <a:srgbClr val="1E6A96"/>
          </a:solidFill>
          <a:ln/>
        </p:spPr>
        <p:txBody>
          <a:bodyPr/>
          <a:p/>
        </p:txBody>
      </p:sp>
      <p:sp>
        <p:nvSpPr>
          <p:cNvPr id="47" name="Shape 36"/>
          <p:cNvSpPr/>
          <p:nvPr/>
        </p:nvSpPr>
        <p:spPr>
          <a:xfrm>
            <a:off x="6400800" y="5522976"/>
            <a:ext cx="5212080" cy="841248"/>
          </a:xfrm>
          <a:prstGeom prst="roundRect">
            <a:avLst>
              <a:gd name="adj" fmla="val 9783"/>
            </a:avLst>
          </a:prstGeom>
          <a:solidFill>
            <a:srgbClr val="0F2A2A"/>
          </a:solidFill>
          <a:ln w="12700">
            <a:solidFill>
              <a:srgbClr val="1E5A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8" name="Shape 37"/>
          <p:cNvSpPr/>
          <p:nvPr/>
        </p:nvSpPr>
        <p:spPr>
          <a:xfrm>
            <a:off x="6565392" y="5724144"/>
            <a:ext cx="438912" cy="438912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50" name="Text 38"/>
          <p:cNvSpPr txBox="1"/>
          <p:nvPr/>
        </p:nvSpPr>
        <p:spPr>
          <a:xfrm>
            <a:off x="7132320" y="5522976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defines all core services</a:t>
            </a:r>
            <a:endParaRPr lang="en-US" sz="1150" dirty="0"/>
          </a:p>
        </p:txBody>
      </p:sp>
      <p:sp>
        <p:nvSpPr>
          <p:cNvPr id="51" name="Text 39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52" name="Text 40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QUALITY ASSURANCE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837944"/>
            <a:ext cx="365760" cy="365760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234440" y="16916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login flow verified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59736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1234440" y="245973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API requests verified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27832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85800" y="3374136"/>
            <a:ext cx="365760" cy="365760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1234440" y="32278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 routes verified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95928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685800" y="4142232"/>
            <a:ext cx="365760" cy="365760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9" name="Text 13"/>
          <p:cNvSpPr txBox="1"/>
          <p:nvPr/>
        </p:nvSpPr>
        <p:spPr>
          <a:xfrm>
            <a:off x="1234440" y="39959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connectivity and schema verified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764024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685800" y="4910328"/>
            <a:ext cx="365760" cy="365760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3" name="Text 16"/>
          <p:cNvSpPr txBox="1"/>
          <p:nvPr/>
        </p:nvSpPr>
        <p:spPr>
          <a:xfrm>
            <a:off x="1234440" y="47640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and billing flow verified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553212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685800" y="5678424"/>
            <a:ext cx="365760" cy="365760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7" name="Text 19"/>
          <p:cNvSpPr txBox="1"/>
          <p:nvPr/>
        </p:nvSpPr>
        <p:spPr>
          <a:xfrm>
            <a:off x="1234440" y="55321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subscription/invoice synchronization verified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382512" y="1691640"/>
            <a:ext cx="2546604" cy="2180844"/>
          </a:xfrm>
          <a:prstGeom prst="roundRect">
            <a:avLst>
              <a:gd name="adj" fmla="val 2935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21"/>
          <p:cNvSpPr/>
          <p:nvPr/>
        </p:nvSpPr>
        <p:spPr>
          <a:xfrm>
            <a:off x="6382512" y="1691640"/>
            <a:ext cx="2546604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0" name="Shape 22"/>
          <p:cNvSpPr/>
          <p:nvPr/>
        </p:nvSpPr>
        <p:spPr>
          <a:xfrm>
            <a:off x="6382512" y="1819656"/>
            <a:ext cx="2546604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31" name="Shape 23"/>
          <p:cNvSpPr/>
          <p:nvPr/>
        </p:nvSpPr>
        <p:spPr>
          <a:xfrm>
            <a:off x="6501384" y="1773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32" name="Shape 24"/>
          <p:cNvSpPr/>
          <p:nvPr/>
        </p:nvSpPr>
        <p:spPr>
          <a:xfrm>
            <a:off x="6656832" y="1773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33" name="Shape 25"/>
          <p:cNvSpPr/>
          <p:nvPr/>
        </p:nvSpPr>
        <p:spPr>
          <a:xfrm>
            <a:off x="6812280" y="1773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5" name="Text 26"/>
          <p:cNvSpPr txBox="1"/>
          <p:nvPr/>
        </p:nvSpPr>
        <p:spPr>
          <a:xfrm>
            <a:off x="6446520" y="3579876"/>
            <a:ext cx="2418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Login / Register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9093708" y="1691640"/>
            <a:ext cx="2546604" cy="2180844"/>
          </a:xfrm>
          <a:prstGeom prst="roundRect">
            <a:avLst>
              <a:gd name="adj" fmla="val 2935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7" name="Shape 28"/>
          <p:cNvSpPr/>
          <p:nvPr/>
        </p:nvSpPr>
        <p:spPr>
          <a:xfrm>
            <a:off x="9093708" y="1691640"/>
            <a:ext cx="2546604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8" name="Shape 29"/>
          <p:cNvSpPr/>
          <p:nvPr/>
        </p:nvSpPr>
        <p:spPr>
          <a:xfrm>
            <a:off x="9093708" y="1819656"/>
            <a:ext cx="2546604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9212580" y="1773936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40" name="Shape 31"/>
          <p:cNvSpPr/>
          <p:nvPr/>
        </p:nvSpPr>
        <p:spPr>
          <a:xfrm>
            <a:off x="9368028" y="177393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41" name="Shape 32"/>
          <p:cNvSpPr/>
          <p:nvPr/>
        </p:nvSpPr>
        <p:spPr>
          <a:xfrm>
            <a:off x="9523476" y="1773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43" name="Text 33"/>
          <p:cNvSpPr txBox="1"/>
          <p:nvPr/>
        </p:nvSpPr>
        <p:spPr>
          <a:xfrm>
            <a:off x="9157716" y="3579876"/>
            <a:ext cx="2418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Plans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6382512" y="4037076"/>
            <a:ext cx="2546604" cy="2180844"/>
          </a:xfrm>
          <a:prstGeom prst="roundRect">
            <a:avLst>
              <a:gd name="adj" fmla="val 2935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5" name="Shape 35"/>
          <p:cNvSpPr/>
          <p:nvPr/>
        </p:nvSpPr>
        <p:spPr>
          <a:xfrm>
            <a:off x="6382512" y="4037076"/>
            <a:ext cx="2546604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6" name="Shape 36"/>
          <p:cNvSpPr/>
          <p:nvPr/>
        </p:nvSpPr>
        <p:spPr>
          <a:xfrm>
            <a:off x="6382512" y="4165092"/>
            <a:ext cx="2546604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47" name="Shape 37"/>
          <p:cNvSpPr/>
          <p:nvPr/>
        </p:nvSpPr>
        <p:spPr>
          <a:xfrm>
            <a:off x="6501384" y="4119372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48" name="Shape 38"/>
          <p:cNvSpPr/>
          <p:nvPr/>
        </p:nvSpPr>
        <p:spPr>
          <a:xfrm>
            <a:off x="6656832" y="411937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49" name="Shape 39"/>
          <p:cNvSpPr/>
          <p:nvPr/>
        </p:nvSpPr>
        <p:spPr>
          <a:xfrm>
            <a:off x="6812280" y="411937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51" name="Text 40"/>
          <p:cNvSpPr txBox="1"/>
          <p:nvPr/>
        </p:nvSpPr>
        <p:spPr>
          <a:xfrm>
            <a:off x="6446520" y="5925312"/>
            <a:ext cx="2418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Billing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9093708" y="4037076"/>
            <a:ext cx="2546604" cy="2180844"/>
          </a:xfrm>
          <a:prstGeom prst="roundRect">
            <a:avLst>
              <a:gd name="adj" fmla="val 2935"/>
            </a:avLst>
          </a:prstGeom>
          <a:solidFill>
            <a:srgbClr val="08152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3" name="Shape 42"/>
          <p:cNvSpPr/>
          <p:nvPr/>
        </p:nvSpPr>
        <p:spPr>
          <a:xfrm>
            <a:off x="9093708" y="4037076"/>
            <a:ext cx="2546604" cy="256032"/>
          </a:xfrm>
          <a:prstGeom prst="roundRect">
            <a:avLst>
              <a:gd name="adj" fmla="val 25000"/>
            </a:avLst>
          </a:prstGeom>
          <a:solidFill>
            <a:srgbClr val="0F2238"/>
          </a:solidFill>
          <a:ln w="9525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4" name="Shape 43"/>
          <p:cNvSpPr/>
          <p:nvPr/>
        </p:nvSpPr>
        <p:spPr>
          <a:xfrm>
            <a:off x="9093708" y="4165092"/>
            <a:ext cx="2546604" cy="128016"/>
          </a:xfrm>
          <a:prstGeom prst="rect">
            <a:avLst/>
          </a:prstGeom>
          <a:solidFill>
            <a:srgbClr val="0F2238"/>
          </a:solidFill>
          <a:ln/>
        </p:spPr>
        <p:txBody>
          <a:bodyPr/>
          <a:p/>
        </p:txBody>
      </p:sp>
      <p:sp>
        <p:nvSpPr>
          <p:cNvPr id="55" name="Shape 44"/>
          <p:cNvSpPr/>
          <p:nvPr/>
        </p:nvSpPr>
        <p:spPr>
          <a:xfrm>
            <a:off x="9212580" y="4119372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56" name="Shape 45"/>
          <p:cNvSpPr/>
          <p:nvPr/>
        </p:nvSpPr>
        <p:spPr>
          <a:xfrm>
            <a:off x="9368028" y="411937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57" name="Shape 46"/>
          <p:cNvSpPr/>
          <p:nvPr/>
        </p:nvSpPr>
        <p:spPr>
          <a:xfrm>
            <a:off x="9523476" y="411937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59" name="Text 47"/>
          <p:cNvSpPr txBox="1"/>
          <p:nvPr/>
        </p:nvSpPr>
        <p:spPr>
          <a:xfrm>
            <a:off x="9157716" y="5925312"/>
            <a:ext cx="2418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Dashboard</a:t>
            </a:r>
            <a:endParaRPr lang="en-US" sz="950" dirty="0"/>
          </a:p>
        </p:txBody>
      </p:sp>
      <p:sp>
        <p:nvSpPr>
          <p:cNvPr id="60" name="Text 48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61" name="Text 49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2" name="Rounded Rectangle 61"/>
          <p:cNvSpPr/>
          <p:nvPr/>
        </p:nvSpPr>
        <p:spPr>
          <a:xfrm>
            <a:off x="5897880" y="1783080"/>
            <a:ext cx="21488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LOGIN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JWT authentication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1783080"/>
            <a:ext cx="21488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PLANS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Subscription selection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97880" y="3886200"/>
            <a:ext cx="21488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BILLING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Invoices + portal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66760" y="3886200"/>
            <a:ext cx="21488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DA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700"/>
              </a:spcAft>
              <a:defRPr sz="1200" b="1">
                <a:solidFill>
                  <a:srgbClr val="2556B2"/>
                </a:solidFill>
              </a:defRPr>
            </a:pPr>
            <a:r>
              <a:t>DASHBOARD</a:t>
            </a:r>
          </a:p>
          <a:p>
            <a:pPr>
              <a:defRPr sz="1400">
                <a:solidFill>
                  <a:srgbClr val="303844"/>
                </a:solidFill>
              </a:defRPr>
            </a:pPr>
            <a:r>
              <a:t>Usage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GROWTH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44824" cy="20574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3087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Architecture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frontend, API, database and billing responsibilities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064" y="1737360"/>
            <a:ext cx="3544824" cy="20574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0664" y="1965960"/>
            <a:ext cx="566928" cy="566928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4550664" y="2651760"/>
            <a:ext cx="3087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50664" y="301752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Express.js, PostgreSQL and Stripe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5488" y="1737360"/>
            <a:ext cx="3544824" cy="20574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24088" y="1965960"/>
            <a:ext cx="566928" cy="566928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8324088" y="2651760"/>
            <a:ext cx="3087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24088" y="301752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and Docker Compose service orchestration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44824" cy="20574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777240" y="4937760"/>
            <a:ext cx="3087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30352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bcrypt and role-based authorization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2064" y="4023360"/>
            <a:ext cx="3544824" cy="20574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0664" y="4251960"/>
            <a:ext cx="566928" cy="566928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4550664" y="4937760"/>
            <a:ext cx="3087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Webhooks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50664" y="530352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Stripe events and database synchronization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5488" y="4023360"/>
            <a:ext cx="3544824" cy="20574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24088" y="4251960"/>
            <a:ext cx="566928" cy="566928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8324088" y="4937760"/>
            <a:ext cx="3087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Readiness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24088" y="530352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configuration and deployment considerations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13  ·  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Conclusion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1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783080"/>
            <a:ext cx="658368" cy="658368"/>
          </a:xfrm>
          <a:prstGeom prst="ellipse">
            <a:avLst/>
          </a:prstGeom>
          <a:solidFill>
            <a:srgbClr val="0F3B33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1600200" y="1737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t>Successfully developed Ledger, a SaaS subscription management platform combining Next.js, Express.js, PostgreSQL, Stripe, JWT authentication and Docker Compose.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FUTURE SCOPE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6764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112520" y="349300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603504" y="416052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t>Email verification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26208" y="3291840"/>
            <a:ext cx="16764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2990088" y="349300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2481072" y="416052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t>Password reset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303776" y="3291840"/>
            <a:ext cx="16764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4867656" y="349300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358640" y="416052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t>Rate limiting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81344" y="3291840"/>
            <a:ext cx="16764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745224" y="349300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5" name="Text 18"/>
          <p:cNvSpPr txBox="1"/>
          <p:nvPr/>
        </p:nvSpPr>
        <p:spPr>
          <a:xfrm>
            <a:off x="6236208" y="416052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t>Webhook queue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8058912" y="3291840"/>
            <a:ext cx="16764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8622792" y="349300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29" name="Text 21"/>
          <p:cNvSpPr txBox="1"/>
          <p:nvPr/>
        </p:nvSpPr>
        <p:spPr>
          <a:xfrm>
            <a:off x="8113776" y="416052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t>Managed production DB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9936480" y="3291840"/>
            <a:ext cx="16764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1" name="Shape 23"/>
          <p:cNvSpPr/>
          <p:nvPr/>
        </p:nvSpPr>
        <p:spPr>
          <a:xfrm>
            <a:off x="10500360" y="3493008"/>
            <a:ext cx="548640" cy="548640"/>
          </a:xfrm>
          <a:prstGeom prst="ellipse">
            <a:avLst/>
          </a:prstGeom>
          <a:solidFill>
            <a:srgbClr val="0F2138"/>
          </a:solidFill>
          <a:ln w="12700">
            <a:solidFill>
              <a:srgbClr val="1E6A96"/>
            </a:solidFill>
            <a:prstDash val="solid"/>
          </a:ln>
        </p:spPr>
        <p:txBody>
          <a:bodyPr/>
          <a:p/>
        </p:txBody>
      </p:sp>
      <p:sp>
        <p:nvSpPr>
          <p:cNvPr id="33" name="Text 24"/>
          <p:cNvSpPr txBox="1"/>
          <p:nvPr/>
        </p:nvSpPr>
        <p:spPr>
          <a:xfrm>
            <a:off x="9991344" y="416052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t>Security hardening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718304" y="5257800"/>
            <a:ext cx="27432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5" name="Text 26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Thank You</a:t>
            </a:r>
            <a:endParaRPr lang="en-US" sz="36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CLOUD COMPUTING INTERNSHIP</a:t>
            </a:r>
            <a:endParaRPr lang="en-US" sz="850" dirty="0"/>
          </a:p>
        </p:txBody>
      </p:sp>
      <p:sp>
        <p:nvSpPr>
          <p:cNvPr id="37" name="Text 28"/>
          <p:cNvSpPr txBox="1"/>
          <p:nvPr/>
        </p:nvSpPr>
        <p:spPr>
          <a:xfrm>
            <a:off x="11155680" y="6547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762</Words>
  <Application>Microsoft Office PowerPoint</Application>
  <PresentationFormat>Widescreen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AMY .</cp:lastModifiedBy>
  <cp:revision>2</cp:revision>
  <dcterms:created xsi:type="dcterms:W3CDTF">2026-09-07T10:31:20Z</dcterms:created>
  <dcterms:modified xsi:type="dcterms:W3CDTF">2026-09-08T03:23:41Z</dcterms:modified>
</cp:coreProperties>
</file>